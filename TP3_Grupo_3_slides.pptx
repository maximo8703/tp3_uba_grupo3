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66" r:id="rId4"/>
    <p:sldId id="263" r:id="rId5"/>
    <p:sldId id="258" r:id="rId6"/>
    <p:sldId id="262" r:id="rId7"/>
    <p:sldId id="267" r:id="rId8"/>
    <p:sldId id="268" r:id="rId9"/>
    <p:sldId id="269" r:id="rId10"/>
    <p:sldId id="265" r:id="rId11"/>
    <p:sldId id="260" r:id="rId12"/>
    <p:sldId id="273"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90" d="100"/>
          <a:sy n="90" d="100"/>
        </p:scale>
        <p:origin x="39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1A531959-0ECE-4249-8F8F-AC78BC2FE40F}" type="datetimeFigureOut">
              <a:rPr lang="es-ES" smtClean="0"/>
              <a:t>24/04/2026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3783086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A531959-0ECE-4249-8F8F-AC78BC2FE40F}" type="datetimeFigureOut">
              <a:rPr lang="es-ES" smtClean="0"/>
              <a:t>24/04/2026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1294365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A531959-0ECE-4249-8F8F-AC78BC2FE40F}" type="datetimeFigureOut">
              <a:rPr lang="es-ES" smtClean="0"/>
              <a:t>24/04/2026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3903746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1A531959-0ECE-4249-8F8F-AC78BC2FE40F}" type="datetimeFigureOut">
              <a:rPr lang="es-ES" smtClean="0"/>
              <a:t>24/04/2026</a:t>
            </a:fld>
            <a:endParaRPr lang="es-ES"/>
          </a:p>
        </p:txBody>
      </p:sp>
      <p:sp>
        <p:nvSpPr>
          <p:cNvPr id="9" name="Footer Placeholder 8"/>
          <p:cNvSpPr>
            <a:spLocks noGrp="1"/>
          </p:cNvSpPr>
          <p:nvPr>
            <p:ph type="ftr" sz="quarter" idx="11"/>
          </p:nvPr>
        </p:nvSpPr>
        <p:spPr/>
        <p:txBody>
          <a:bodyPr/>
          <a:lstStyle/>
          <a:p>
            <a:endParaRPr lang="es-ES"/>
          </a:p>
        </p:txBody>
      </p:sp>
      <p:sp>
        <p:nvSpPr>
          <p:cNvPr id="10" name="Slide Number Placeholder 9"/>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3688394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A531959-0ECE-4249-8F8F-AC78BC2FE40F}" type="datetimeFigureOut">
              <a:rPr lang="es-ES" smtClean="0"/>
              <a:t>24/04/2026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8B530ABD-F58D-42C4-8632-AC371F16C095}" type="slidenum">
              <a:rPr lang="es-ES" smtClean="0"/>
              <a:t>‹Nº›</a:t>
            </a:fld>
            <a:endParaRPr lang="es-ES"/>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422288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A531959-0ECE-4249-8F8F-AC78BC2FE40F}" type="datetimeFigureOut">
              <a:rPr lang="es-ES" smtClean="0"/>
              <a:t>24/04/2026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3358077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531959-0ECE-4249-8F8F-AC78BC2FE40F}" type="datetimeFigureOut">
              <a:rPr lang="es-ES" smtClean="0"/>
              <a:t>24/04/2026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179460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bg>
      <p:bgRef idx="1001">
        <a:schemeClr val="bg2"/>
      </p:bgRef>
    </p:bg>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1A531959-0ECE-4249-8F8F-AC78BC2FE40F}" type="datetimeFigureOut">
              <a:rPr lang="es-ES" smtClean="0"/>
              <a:t>24/04/2026</a:t>
            </a:fld>
            <a:endParaRPr lang="es-E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ES"/>
          </a:p>
        </p:txBody>
      </p:sp>
      <p:sp>
        <p:nvSpPr>
          <p:cNvPr id="11" name="Slide Number Placeholder 10"/>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287652914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Ref idx="1001">
        <a:schemeClr val="bg2"/>
      </p:bgRef>
    </p:bg>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tx1">
              <a:lumMod val="8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A531959-0ECE-4249-8F8F-AC78BC2FE40F}" type="datetimeFigureOut">
              <a:rPr lang="es-ES" smtClean="0"/>
              <a:t>24/04/2026</a:t>
            </a:fld>
            <a:endParaRPr lang="es-E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ES"/>
          </a:p>
        </p:txBody>
      </p:sp>
      <p:sp>
        <p:nvSpPr>
          <p:cNvPr id="10" name="Slide Number Placeholder 9"/>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337464482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A531959-0ECE-4249-8F8F-AC78BC2FE40F}" type="datetimeFigureOut">
              <a:rPr lang="es-ES" smtClean="0"/>
              <a:t>24/04/2026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928044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A531959-0ECE-4249-8F8F-AC78BC2FE40F}" type="datetimeFigureOut">
              <a:rPr lang="es-ES" smtClean="0"/>
              <a:t>24/04/2026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B530ABD-F58D-42C4-8632-AC371F16C095}" type="slidenum">
              <a:rPr lang="es-ES" smtClean="0"/>
              <a:t>‹Nº›</a:t>
            </a:fld>
            <a:endParaRPr lang="es-ES"/>
          </a:p>
        </p:txBody>
      </p:sp>
    </p:spTree>
    <p:extLst>
      <p:ext uri="{BB962C8B-B14F-4D97-AF65-F5344CB8AC3E}">
        <p14:creationId xmlns:p14="http://schemas.microsoft.com/office/powerpoint/2010/main" val="4114693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chemeClr val="bg2">
              <a:lumMod val="60000"/>
              <a:lumOff val="40000"/>
              <a:alpha val="15000"/>
            </a:schemeClr>
          </a:solidFill>
          <a:ln w="31750" cap="sq">
            <a:solidFill>
              <a:schemeClr val="tx1">
                <a:lumMod val="75000"/>
                <a:lumOff val="25000"/>
              </a:schemeClr>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A531959-0ECE-4249-8F8F-AC78BC2FE40F}" type="datetimeFigureOut">
              <a:rPr lang="es-ES" smtClean="0"/>
              <a:t>24/04/2026</a:t>
            </a:fld>
            <a:endParaRPr lang="es-E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s-E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8B530ABD-F58D-42C4-8632-AC371F16C095}" type="slidenum">
              <a:rPr lang="es-ES" smtClean="0"/>
              <a:t>‹Nº›</a:t>
            </a:fld>
            <a:endParaRPr lang="es-ES"/>
          </a:p>
        </p:txBody>
      </p:sp>
    </p:spTree>
    <p:extLst>
      <p:ext uri="{BB962C8B-B14F-4D97-AF65-F5344CB8AC3E}">
        <p14:creationId xmlns:p14="http://schemas.microsoft.com/office/powerpoint/2010/main" val="2798009747"/>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A3EB2D-0C3A-BE93-E66B-E1B3FECE4371}"/>
              </a:ext>
            </a:extLst>
          </p:cNvPr>
          <p:cNvSpPr>
            <a:spLocks noGrp="1"/>
          </p:cNvSpPr>
          <p:nvPr>
            <p:ph type="ctrTitle"/>
          </p:nvPr>
        </p:nvSpPr>
        <p:spPr/>
        <p:txBody>
          <a:bodyPr/>
          <a:lstStyle/>
          <a:p>
            <a:r>
              <a:rPr lang="es-ES" dirty="0"/>
              <a:t>TP3: Métodos no Supervisados</a:t>
            </a:r>
          </a:p>
        </p:txBody>
      </p:sp>
    </p:spTree>
    <p:extLst>
      <p:ext uri="{BB962C8B-B14F-4D97-AF65-F5344CB8AC3E}">
        <p14:creationId xmlns:p14="http://schemas.microsoft.com/office/powerpoint/2010/main" val="264525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333F7-80E1-AA05-645E-C1F89C83B162}"/>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80AEA5A5-62D1-C05A-CCD1-EE9CB83D8C1D}"/>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B7AC24B4-9AAE-7591-9FFA-8F3C10B630AE}"/>
              </a:ext>
            </a:extLst>
          </p:cNvPr>
          <p:cNvSpPr txBox="1"/>
          <p:nvPr/>
        </p:nvSpPr>
        <p:spPr>
          <a:xfrm>
            <a:off x="1171074" y="320842"/>
            <a:ext cx="4732421" cy="707886"/>
          </a:xfrm>
          <a:prstGeom prst="rect">
            <a:avLst/>
          </a:prstGeom>
          <a:noFill/>
        </p:spPr>
        <p:txBody>
          <a:bodyPr wrap="square" rtlCol="0">
            <a:spAutoFit/>
          </a:bodyPr>
          <a:lstStyle/>
          <a:p>
            <a:r>
              <a:rPr lang="es-ES" sz="4000" dirty="0"/>
              <a:t>Creación de </a:t>
            </a:r>
            <a:r>
              <a:rPr lang="es-ES" sz="3600" dirty="0"/>
              <a:t>Variables</a:t>
            </a:r>
          </a:p>
        </p:txBody>
      </p:sp>
      <p:sp>
        <p:nvSpPr>
          <p:cNvPr id="7" name="CuadroTexto 6">
            <a:extLst>
              <a:ext uri="{FF2B5EF4-FFF2-40B4-BE49-F238E27FC236}">
                <a16:creationId xmlns:a16="http://schemas.microsoft.com/office/drawing/2014/main" id="{0754752C-DAA3-2E8B-F5EE-DDE71A9B0D18}"/>
              </a:ext>
            </a:extLst>
          </p:cNvPr>
          <p:cNvSpPr txBox="1"/>
          <p:nvPr/>
        </p:nvSpPr>
        <p:spPr>
          <a:xfrm>
            <a:off x="1668379" y="1427746"/>
            <a:ext cx="9496926" cy="2523768"/>
          </a:xfrm>
          <a:prstGeom prst="rect">
            <a:avLst/>
          </a:prstGeom>
          <a:noFill/>
        </p:spPr>
        <p:txBody>
          <a:bodyPr wrap="square" rtlCol="0">
            <a:spAutoFit/>
          </a:bodyPr>
          <a:lstStyle/>
          <a:p>
            <a:pPr marL="342900" indent="-342900">
              <a:buFont typeface="Arial" panose="020B0604020202020204" pitchFamily="34" charset="0"/>
              <a:buChar char="•"/>
            </a:pPr>
            <a:r>
              <a:rPr lang="es-ES" sz="2000" dirty="0"/>
              <a:t>Edad2:  CH06 (Edad) elevado al cuadrado</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err="1"/>
              <a:t>Horastrab</a:t>
            </a:r>
            <a:r>
              <a:rPr lang="es-ES" sz="2000" dirty="0"/>
              <a:t>:  suma los valores de las columnas PP3E_TOT (Horas de trabajo de ocupación principal) y PP3F_TOT (Horas de trabajo de otras ocupaciones)</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err="1"/>
              <a:t>Nhogar</a:t>
            </a:r>
            <a:r>
              <a:rPr lang="es-ES" sz="2000" dirty="0"/>
              <a:t>: la columna COMPONENTE define la cantidad de personas que viven dentro de un hogar, delimitado por CODUSU y NRO_HOGAR.</a:t>
            </a:r>
          </a:p>
          <a:p>
            <a:endParaRPr lang="es-ES" dirty="0"/>
          </a:p>
        </p:txBody>
      </p:sp>
    </p:spTree>
    <p:extLst>
      <p:ext uri="{BB962C8B-B14F-4D97-AF65-F5344CB8AC3E}">
        <p14:creationId xmlns:p14="http://schemas.microsoft.com/office/powerpoint/2010/main" val="2723473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B7DF6-1686-5424-A06C-59FA5B0E9C02}"/>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469BB23-4E37-A7DD-5A6D-53B5BFC3DC76}"/>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2A3B6E0B-9A34-621F-50A2-4D48093CD012}"/>
              </a:ext>
            </a:extLst>
          </p:cNvPr>
          <p:cNvSpPr txBox="1"/>
          <p:nvPr/>
        </p:nvSpPr>
        <p:spPr>
          <a:xfrm>
            <a:off x="1171074" y="320842"/>
            <a:ext cx="7370946" cy="707886"/>
          </a:xfrm>
          <a:prstGeom prst="rect">
            <a:avLst/>
          </a:prstGeom>
          <a:noFill/>
        </p:spPr>
        <p:txBody>
          <a:bodyPr wrap="square" rtlCol="0">
            <a:spAutoFit/>
          </a:bodyPr>
          <a:lstStyle/>
          <a:p>
            <a:r>
              <a:rPr lang="es-ES" sz="4000" dirty="0"/>
              <a:t>Caso Años de Educación</a:t>
            </a:r>
            <a:endParaRPr lang="es-ES" sz="3600" dirty="0"/>
          </a:p>
        </p:txBody>
      </p:sp>
      <p:sp>
        <p:nvSpPr>
          <p:cNvPr id="7" name="CuadroTexto 6">
            <a:extLst>
              <a:ext uri="{FF2B5EF4-FFF2-40B4-BE49-F238E27FC236}">
                <a16:creationId xmlns:a16="http://schemas.microsoft.com/office/drawing/2014/main" id="{AF41C221-2167-7B64-0415-7D4A4C091E61}"/>
              </a:ext>
            </a:extLst>
          </p:cNvPr>
          <p:cNvSpPr txBox="1"/>
          <p:nvPr/>
        </p:nvSpPr>
        <p:spPr>
          <a:xfrm>
            <a:off x="1584559" y="1430141"/>
            <a:ext cx="9496926" cy="984885"/>
          </a:xfrm>
          <a:prstGeom prst="rect">
            <a:avLst/>
          </a:prstGeom>
          <a:noFill/>
        </p:spPr>
        <p:txBody>
          <a:bodyPr wrap="square" rtlCol="0">
            <a:spAutoFit/>
          </a:bodyPr>
          <a:lstStyle/>
          <a:p>
            <a:r>
              <a:rPr lang="es-ES" sz="2000" dirty="0"/>
              <a:t>Se establecieron los años de educación según el nivel más alto completado.</a:t>
            </a:r>
          </a:p>
          <a:p>
            <a:endParaRPr lang="es-ES" sz="2000" dirty="0"/>
          </a:p>
          <a:p>
            <a:endParaRPr lang="es-ES" dirty="0"/>
          </a:p>
        </p:txBody>
      </p:sp>
      <p:graphicFrame>
        <p:nvGraphicFramePr>
          <p:cNvPr id="3" name="Tabla 2">
            <a:extLst>
              <a:ext uri="{FF2B5EF4-FFF2-40B4-BE49-F238E27FC236}">
                <a16:creationId xmlns:a16="http://schemas.microsoft.com/office/drawing/2014/main" id="{B42161FE-7746-C216-A4D8-AF8B880DD0B9}"/>
              </a:ext>
            </a:extLst>
          </p:cNvPr>
          <p:cNvGraphicFramePr>
            <a:graphicFrameLocks noGrp="1"/>
          </p:cNvGraphicFramePr>
          <p:nvPr>
            <p:extLst>
              <p:ext uri="{D42A27DB-BD31-4B8C-83A1-F6EECF244321}">
                <p14:modId xmlns:p14="http://schemas.microsoft.com/office/powerpoint/2010/main" val="2146672246"/>
              </p:ext>
            </p:extLst>
          </p:nvPr>
        </p:nvGraphicFramePr>
        <p:xfrm>
          <a:off x="1668378" y="2030306"/>
          <a:ext cx="8450982" cy="1881294"/>
        </p:xfrm>
        <a:graphic>
          <a:graphicData uri="http://schemas.openxmlformats.org/drawingml/2006/table">
            <a:tbl>
              <a:tblPr firstRow="1" bandRow="1">
                <a:tableStyleId>{5C22544A-7EE6-4342-B048-85BDC9FD1C3A}</a:tableStyleId>
              </a:tblPr>
              <a:tblGrid>
                <a:gridCol w="4225491">
                  <a:extLst>
                    <a:ext uri="{9D8B030D-6E8A-4147-A177-3AD203B41FA5}">
                      <a16:colId xmlns:a16="http://schemas.microsoft.com/office/drawing/2014/main" val="1114873039"/>
                    </a:ext>
                  </a:extLst>
                </a:gridCol>
                <a:gridCol w="4225491">
                  <a:extLst>
                    <a:ext uri="{9D8B030D-6E8A-4147-A177-3AD203B41FA5}">
                      <a16:colId xmlns:a16="http://schemas.microsoft.com/office/drawing/2014/main" val="589921251"/>
                    </a:ext>
                  </a:extLst>
                </a:gridCol>
              </a:tblGrid>
              <a:tr h="165102">
                <a:tc>
                  <a:txBody>
                    <a:bodyPr/>
                    <a:lstStyle/>
                    <a:p>
                      <a:r>
                        <a:rPr lang="es-ES" dirty="0"/>
                        <a:t>Jardín – educ. formal = 0</a:t>
                      </a:r>
                    </a:p>
                  </a:txBody>
                  <a:tcPr>
                    <a:solidFill>
                      <a:schemeClr val="accent2">
                        <a:lumMod val="60000"/>
                        <a:lumOff val="40000"/>
                      </a:schemeClr>
                    </a:solidFill>
                  </a:tcPr>
                </a:tc>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Terciario - educ. formal = 14</a:t>
                      </a:r>
                    </a:p>
                  </a:txBody>
                  <a:tcPr marL="68580" marR="68580" marT="0" marB="0">
                    <a:solidFill>
                      <a:schemeClr val="accent2">
                        <a:lumMod val="60000"/>
                        <a:lumOff val="40000"/>
                      </a:schemeClr>
                    </a:solidFill>
                  </a:tcPr>
                </a:tc>
                <a:extLst>
                  <a:ext uri="{0D108BD9-81ED-4DB2-BD59-A6C34878D82A}">
                    <a16:rowId xmlns:a16="http://schemas.microsoft.com/office/drawing/2014/main" val="2429063877"/>
                  </a:ext>
                </a:extLst>
              </a:tr>
              <a:tr h="403014">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Primario - educ. formal = 6</a:t>
                      </a:r>
                      <a:endParaRPr lang="es-ES" sz="2000" b="1" kern="100" dirty="0">
                        <a:solidFill>
                          <a:schemeClr val="tx1"/>
                        </a:solidFill>
                        <a:effectLst/>
                        <a:latin typeface="+mn-lt"/>
                        <a:ea typeface="Aptos" panose="020B0004020202020204" pitchFamily="34" charset="0"/>
                        <a:cs typeface="Times New Roman" panose="02020603050405020304" pitchFamily="18" charset="0"/>
                      </a:endParaRPr>
                    </a:p>
                  </a:txBody>
                  <a:tcPr marL="68580" marR="68580" marT="0" marB="0" anchor="ctr">
                    <a:solidFill>
                      <a:schemeClr val="accent3"/>
                    </a:solidFill>
                  </a:tcPr>
                </a:tc>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Universitario - educ. formal = 17</a:t>
                      </a:r>
                    </a:p>
                  </a:txBody>
                  <a:tcPr marL="68580" marR="68580" marT="0" marB="0" anchor="ctr">
                    <a:solidFill>
                      <a:schemeClr val="accent3"/>
                    </a:solidFill>
                  </a:tcPr>
                </a:tc>
                <a:extLst>
                  <a:ext uri="{0D108BD9-81ED-4DB2-BD59-A6C34878D82A}">
                    <a16:rowId xmlns:a16="http://schemas.microsoft.com/office/drawing/2014/main" val="2063904564"/>
                  </a:ext>
                </a:extLst>
              </a:tr>
              <a:tr h="370840">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EGB - educ. formal = 9</a:t>
                      </a:r>
                    </a:p>
                  </a:txBody>
                  <a:tcPr marL="68580" marR="68580" marT="0" marB="0">
                    <a:solidFill>
                      <a:schemeClr val="accent2">
                        <a:lumMod val="60000"/>
                        <a:lumOff val="40000"/>
                      </a:schemeClr>
                    </a:solidFill>
                  </a:tcPr>
                </a:tc>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Posgr. universitario - educ. formal =19</a:t>
                      </a:r>
                    </a:p>
                  </a:txBody>
                  <a:tcPr marL="68580" marR="68580" marT="0" marB="0">
                    <a:solidFill>
                      <a:schemeClr val="accent2">
                        <a:lumMod val="60000"/>
                        <a:lumOff val="40000"/>
                      </a:schemeClr>
                    </a:solidFill>
                  </a:tcPr>
                </a:tc>
                <a:extLst>
                  <a:ext uri="{0D108BD9-81ED-4DB2-BD59-A6C34878D82A}">
                    <a16:rowId xmlns:a16="http://schemas.microsoft.com/office/drawing/2014/main" val="4052686914"/>
                  </a:ext>
                </a:extLst>
              </a:tr>
              <a:tr h="370840">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Secundario - educ. formal = 12</a:t>
                      </a:r>
                    </a:p>
                  </a:txBody>
                  <a:tcPr marL="68580" marR="68580" marT="0" marB="0">
                    <a:solidFill>
                      <a:schemeClr val="accent3"/>
                    </a:solidFill>
                  </a:tcPr>
                </a:tc>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Educación especial  - educ. formal = 0</a:t>
                      </a:r>
                    </a:p>
                  </a:txBody>
                  <a:tcPr marL="68580" marR="68580" marT="0" marB="0">
                    <a:solidFill>
                      <a:schemeClr val="accent3"/>
                    </a:solidFill>
                  </a:tcPr>
                </a:tc>
                <a:extLst>
                  <a:ext uri="{0D108BD9-81ED-4DB2-BD59-A6C34878D82A}">
                    <a16:rowId xmlns:a16="http://schemas.microsoft.com/office/drawing/2014/main" val="3445094178"/>
                  </a:ext>
                </a:extLst>
              </a:tr>
              <a:tr h="370840">
                <a:tc>
                  <a:txBody>
                    <a:bodyPr/>
                    <a:lstStyle/>
                    <a:p>
                      <a:pPr>
                        <a:lnSpc>
                          <a:spcPct val="115000"/>
                        </a:lnSpc>
                        <a:spcAft>
                          <a:spcPts val="800"/>
                        </a:spcAft>
                        <a:buNone/>
                      </a:pPr>
                      <a:r>
                        <a:rPr lang="es-ES" sz="1800" b="1" kern="100" dirty="0">
                          <a:solidFill>
                            <a:schemeClr val="tx1"/>
                          </a:solidFill>
                          <a:effectLst/>
                          <a:latin typeface="+mn-lt"/>
                          <a:ea typeface="Aptos" panose="020B0004020202020204" pitchFamily="34" charset="0"/>
                          <a:cs typeface="Times New Roman" panose="02020603050405020304" pitchFamily="18" charset="0"/>
                        </a:rPr>
                        <a:t>Polimodal - educ. formal = 12</a:t>
                      </a:r>
                    </a:p>
                  </a:txBody>
                  <a:tcPr marL="68580" marR="68580" marT="0" marB="0">
                    <a:solidFill>
                      <a:schemeClr val="accent2">
                        <a:lumMod val="60000"/>
                        <a:lumOff val="40000"/>
                      </a:schemeClr>
                    </a:solidFill>
                  </a:tcPr>
                </a:tc>
                <a:tc>
                  <a:txBody>
                    <a:bodyPr/>
                    <a:lstStyle/>
                    <a:p>
                      <a:endParaRPr lang="es-ES" dirty="0"/>
                    </a:p>
                  </a:txBody>
                  <a:tcPr>
                    <a:solidFill>
                      <a:schemeClr val="accent2">
                        <a:lumMod val="60000"/>
                        <a:lumOff val="40000"/>
                      </a:schemeClr>
                    </a:solidFill>
                  </a:tcPr>
                </a:tc>
                <a:extLst>
                  <a:ext uri="{0D108BD9-81ED-4DB2-BD59-A6C34878D82A}">
                    <a16:rowId xmlns:a16="http://schemas.microsoft.com/office/drawing/2014/main" val="1892184305"/>
                  </a:ext>
                </a:extLst>
              </a:tr>
            </a:tbl>
          </a:graphicData>
        </a:graphic>
      </p:graphicFrame>
      <p:sp>
        <p:nvSpPr>
          <p:cNvPr id="4" name="CuadroTexto 3">
            <a:extLst>
              <a:ext uri="{FF2B5EF4-FFF2-40B4-BE49-F238E27FC236}">
                <a16:creationId xmlns:a16="http://schemas.microsoft.com/office/drawing/2014/main" id="{81F4718F-C59F-747E-1944-02C819ECA98B}"/>
              </a:ext>
            </a:extLst>
          </p:cNvPr>
          <p:cNvSpPr txBox="1"/>
          <p:nvPr/>
        </p:nvSpPr>
        <p:spPr>
          <a:xfrm>
            <a:off x="1584559" y="4313013"/>
            <a:ext cx="9044940" cy="1200329"/>
          </a:xfrm>
          <a:prstGeom prst="rect">
            <a:avLst/>
          </a:prstGeom>
          <a:noFill/>
        </p:spPr>
        <p:txBody>
          <a:bodyPr wrap="square" rtlCol="0">
            <a:spAutoFit/>
          </a:bodyPr>
          <a:lstStyle/>
          <a:p>
            <a:r>
              <a:rPr lang="es-ES" dirty="0"/>
              <a:t>Para el caso de que no haya completado el nivel más alto cursado (CH13 = 2), se definió que la cantidad de años de educación formal sea el nivel más alto completado, sumado a la respuesta en CH14.</a:t>
            </a:r>
          </a:p>
          <a:p>
            <a:endParaRPr lang="es-ES" dirty="0"/>
          </a:p>
        </p:txBody>
      </p:sp>
    </p:spTree>
    <p:extLst>
      <p:ext uri="{BB962C8B-B14F-4D97-AF65-F5344CB8AC3E}">
        <p14:creationId xmlns:p14="http://schemas.microsoft.com/office/powerpoint/2010/main" val="2658809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FB564-66F1-A869-E1E3-362B7B026D03}"/>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ADCFF3E1-B826-BFF6-60E0-41F871CDB85F}"/>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a:extLst>
              <a:ext uri="{FF2B5EF4-FFF2-40B4-BE49-F238E27FC236}">
                <a16:creationId xmlns:a16="http://schemas.microsoft.com/office/drawing/2014/main" id="{8B306C11-0C3C-AF80-5A36-B6D936F87042}"/>
              </a:ext>
            </a:extLst>
          </p:cNvPr>
          <p:cNvPicPr>
            <a:picLocks noChangeAspect="1"/>
          </p:cNvPicPr>
          <p:nvPr/>
        </p:nvPicPr>
        <p:blipFill>
          <a:blip r:embed="rId2">
            <a:extLst>
              <a:ext uri="{28A0092B-C50C-407E-A947-70E740481C1C}">
                <a14:useLocalDpi xmlns:a14="http://schemas.microsoft.com/office/drawing/2010/main" val="0"/>
              </a:ext>
            </a:extLst>
          </a:blip>
          <a:srcRect l="1027"/>
          <a:stretch>
            <a:fillRect/>
          </a:stretch>
        </p:blipFill>
        <p:spPr>
          <a:xfrm>
            <a:off x="914400" y="51910"/>
            <a:ext cx="10608814" cy="5276851"/>
          </a:xfrm>
          <a:prstGeom prst="rect">
            <a:avLst/>
          </a:prstGeom>
        </p:spPr>
      </p:pic>
      <p:sp>
        <p:nvSpPr>
          <p:cNvPr id="4" name="CuadroTexto 3">
            <a:extLst>
              <a:ext uri="{FF2B5EF4-FFF2-40B4-BE49-F238E27FC236}">
                <a16:creationId xmlns:a16="http://schemas.microsoft.com/office/drawing/2014/main" id="{B977A7C2-599A-EA20-21C7-C503CA44ECB3}"/>
              </a:ext>
            </a:extLst>
          </p:cNvPr>
          <p:cNvSpPr txBox="1"/>
          <p:nvPr/>
        </p:nvSpPr>
        <p:spPr>
          <a:xfrm>
            <a:off x="914400" y="5380672"/>
            <a:ext cx="10363200" cy="1477328"/>
          </a:xfrm>
          <a:prstGeom prst="rect">
            <a:avLst/>
          </a:prstGeom>
          <a:noFill/>
        </p:spPr>
        <p:txBody>
          <a:bodyPr wrap="square" rtlCol="0">
            <a:spAutoFit/>
          </a:bodyPr>
          <a:lstStyle/>
          <a:p>
            <a:pPr marL="285750" indent="-285750">
              <a:buFont typeface="Arial" panose="020B0604020202020204" pitchFamily="34" charset="0"/>
              <a:buChar char="•"/>
            </a:pPr>
            <a:r>
              <a:rPr lang="es-ES" dirty="0"/>
              <a:t>Los picos de frecuencia están dados por la escuela primaria (6), secundaria/polimodal (12).</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En segundo lugar están terciario (14) y universitario (17)</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Cabe destacar el efecto de la EGB (9) y los posgrados universitarios (19)</a:t>
            </a:r>
          </a:p>
        </p:txBody>
      </p:sp>
    </p:spTree>
    <p:extLst>
      <p:ext uri="{BB962C8B-B14F-4D97-AF65-F5344CB8AC3E}">
        <p14:creationId xmlns:p14="http://schemas.microsoft.com/office/powerpoint/2010/main" val="1260047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4245E-80A9-013E-A84A-398F70707B7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E8E1BC9C-72B3-74C2-C11F-7E3E62C46C36}"/>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Imagen 9">
            <a:extLst>
              <a:ext uri="{FF2B5EF4-FFF2-40B4-BE49-F238E27FC236}">
                <a16:creationId xmlns:a16="http://schemas.microsoft.com/office/drawing/2014/main" id="{5C6FF67E-55CC-3382-50FC-FE3A81BAA9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9" y="129539"/>
            <a:ext cx="10503111" cy="5200651"/>
          </a:xfrm>
          <a:prstGeom prst="rect">
            <a:avLst/>
          </a:prstGeom>
        </p:spPr>
      </p:pic>
      <p:sp>
        <p:nvSpPr>
          <p:cNvPr id="12" name="CuadroTexto 11">
            <a:extLst>
              <a:ext uri="{FF2B5EF4-FFF2-40B4-BE49-F238E27FC236}">
                <a16:creationId xmlns:a16="http://schemas.microsoft.com/office/drawing/2014/main" id="{ABC0EE5E-94EF-9372-CA28-484C147B0229}"/>
              </a:ext>
            </a:extLst>
          </p:cNvPr>
          <p:cNvSpPr txBox="1"/>
          <p:nvPr/>
        </p:nvSpPr>
        <p:spPr>
          <a:xfrm>
            <a:off x="914399" y="5459730"/>
            <a:ext cx="10229850" cy="923330"/>
          </a:xfrm>
          <a:prstGeom prst="rect">
            <a:avLst/>
          </a:prstGeom>
          <a:noFill/>
        </p:spPr>
        <p:txBody>
          <a:bodyPr wrap="square" rtlCol="0">
            <a:spAutoFit/>
          </a:bodyPr>
          <a:lstStyle/>
          <a:p>
            <a:pPr marL="285750" indent="-285750">
              <a:buFont typeface="Arial" panose="020B0604020202020204" pitchFamily="34" charset="0"/>
              <a:buChar char="•"/>
            </a:pPr>
            <a:r>
              <a:rPr lang="es-ES" dirty="0"/>
              <a:t>El valor más repetido es de 2 habitantes por hogar</a:t>
            </a:r>
          </a:p>
          <a:p>
            <a:endParaRPr lang="es-ES" dirty="0"/>
          </a:p>
          <a:p>
            <a:pPr marL="285750" indent="-285750">
              <a:buFont typeface="Arial" panose="020B0604020202020204" pitchFamily="34" charset="0"/>
              <a:buChar char="•"/>
            </a:pPr>
            <a:r>
              <a:rPr lang="es-ES" dirty="0"/>
              <a:t>La mitad de las personas viven en un hogar con menos de 4 habitantes. Mediana = 4</a:t>
            </a:r>
          </a:p>
        </p:txBody>
      </p:sp>
    </p:spTree>
    <p:extLst>
      <p:ext uri="{BB962C8B-B14F-4D97-AF65-F5344CB8AC3E}">
        <p14:creationId xmlns:p14="http://schemas.microsoft.com/office/powerpoint/2010/main" val="1706286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9E48D-3CC1-F929-7F64-F8EDB26DBEE3}"/>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4BB729A6-A37F-3947-4BC6-B017841D5498}"/>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3" name="Imagen 2">
            <a:extLst>
              <a:ext uri="{FF2B5EF4-FFF2-40B4-BE49-F238E27FC236}">
                <a16:creationId xmlns:a16="http://schemas.microsoft.com/office/drawing/2014/main" id="{4A1BFE22-B55B-ACA8-0808-CCD107BCC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9" y="121919"/>
            <a:ext cx="8667749" cy="5295901"/>
          </a:xfrm>
          <a:prstGeom prst="rect">
            <a:avLst/>
          </a:prstGeom>
        </p:spPr>
      </p:pic>
      <p:sp>
        <p:nvSpPr>
          <p:cNvPr id="4" name="CuadroTexto 3">
            <a:extLst>
              <a:ext uri="{FF2B5EF4-FFF2-40B4-BE49-F238E27FC236}">
                <a16:creationId xmlns:a16="http://schemas.microsoft.com/office/drawing/2014/main" id="{A1E4B556-C909-4C07-AFEF-83084A6C72F7}"/>
              </a:ext>
            </a:extLst>
          </p:cNvPr>
          <p:cNvSpPr txBox="1"/>
          <p:nvPr/>
        </p:nvSpPr>
        <p:spPr>
          <a:xfrm>
            <a:off x="914399" y="5539740"/>
            <a:ext cx="11277601" cy="923330"/>
          </a:xfrm>
          <a:prstGeom prst="rect">
            <a:avLst/>
          </a:prstGeom>
          <a:noFill/>
        </p:spPr>
        <p:txBody>
          <a:bodyPr wrap="square" rtlCol="0">
            <a:spAutoFit/>
          </a:bodyPr>
          <a:lstStyle/>
          <a:p>
            <a:pPr marL="285750" indent="-285750">
              <a:buFont typeface="Arial" panose="020B0604020202020204" pitchFamily="34" charset="0"/>
              <a:buChar char="•"/>
            </a:pPr>
            <a:r>
              <a:rPr lang="es-ES" dirty="0"/>
              <a:t>La mitad de las personas trabajan 40 horas semanales o más. Mediana = 40</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En un segundo lugar de frecuencia se encuentran las ocupaciones </a:t>
            </a:r>
            <a:r>
              <a:rPr lang="es-ES" dirty="0" err="1"/>
              <a:t>part</a:t>
            </a:r>
            <a:r>
              <a:rPr lang="es-ES" dirty="0"/>
              <a:t>-time (20 y 30 horas semanales)</a:t>
            </a:r>
          </a:p>
        </p:txBody>
      </p:sp>
    </p:spTree>
    <p:extLst>
      <p:ext uri="{BB962C8B-B14F-4D97-AF65-F5344CB8AC3E}">
        <p14:creationId xmlns:p14="http://schemas.microsoft.com/office/powerpoint/2010/main" val="1555244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E591A-9CCB-81A1-F153-0662C50B5BA7}"/>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1E0222D2-7DA2-71FA-05A7-3142BB3E6C7A}"/>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3A757F4A-4C73-FD76-FD83-5F875E9D2ACB}"/>
              </a:ext>
            </a:extLst>
          </p:cNvPr>
          <p:cNvSpPr txBox="1"/>
          <p:nvPr/>
        </p:nvSpPr>
        <p:spPr>
          <a:xfrm>
            <a:off x="1066228" y="122722"/>
            <a:ext cx="7454766" cy="707886"/>
          </a:xfrm>
          <a:prstGeom prst="rect">
            <a:avLst/>
          </a:prstGeom>
          <a:noFill/>
        </p:spPr>
        <p:txBody>
          <a:bodyPr wrap="square" rtlCol="0">
            <a:spAutoFit/>
          </a:bodyPr>
          <a:lstStyle/>
          <a:p>
            <a:r>
              <a:rPr lang="es-ES" sz="4000" dirty="0"/>
              <a:t>Matriz de Correlación</a:t>
            </a:r>
            <a:endParaRPr lang="es-ES" sz="3600" dirty="0"/>
          </a:p>
        </p:txBody>
      </p:sp>
      <p:pic>
        <p:nvPicPr>
          <p:cNvPr id="3" name="Imagen 2">
            <a:extLst>
              <a:ext uri="{FF2B5EF4-FFF2-40B4-BE49-F238E27FC236}">
                <a16:creationId xmlns:a16="http://schemas.microsoft.com/office/drawing/2014/main" id="{AA2C5438-9843-AB6C-F05A-DA66E5EC4CA5}"/>
              </a:ext>
            </a:extLst>
          </p:cNvPr>
          <p:cNvPicPr>
            <a:picLocks noChangeAspect="1"/>
          </p:cNvPicPr>
          <p:nvPr/>
        </p:nvPicPr>
        <p:blipFill>
          <a:blip r:embed="rId2">
            <a:extLst>
              <a:ext uri="{28A0092B-C50C-407E-A947-70E740481C1C}">
                <a14:useLocalDpi xmlns:a14="http://schemas.microsoft.com/office/drawing/2010/main" val="0"/>
              </a:ext>
            </a:extLst>
          </a:blip>
          <a:srcRect l="3286" t="3350" r="1410" b="3527"/>
          <a:stretch>
            <a:fillRect/>
          </a:stretch>
        </p:blipFill>
        <p:spPr>
          <a:xfrm>
            <a:off x="1066228" y="830608"/>
            <a:ext cx="8241494" cy="4168112"/>
          </a:xfrm>
          <a:prstGeom prst="rect">
            <a:avLst/>
          </a:prstGeom>
        </p:spPr>
      </p:pic>
      <p:sp>
        <p:nvSpPr>
          <p:cNvPr id="4" name="CuadroTexto 3">
            <a:extLst>
              <a:ext uri="{FF2B5EF4-FFF2-40B4-BE49-F238E27FC236}">
                <a16:creationId xmlns:a16="http://schemas.microsoft.com/office/drawing/2014/main" id="{A5731B55-69BA-A405-3CDE-05FF9B6DD779}"/>
              </a:ext>
            </a:extLst>
          </p:cNvPr>
          <p:cNvSpPr txBox="1"/>
          <p:nvPr/>
        </p:nvSpPr>
        <p:spPr>
          <a:xfrm>
            <a:off x="914400" y="4998720"/>
            <a:ext cx="11277600" cy="2062103"/>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s-ES" dirty="0"/>
              <a:t>La educación tiene una correlación inversa para definir la formalidad de una persona y positiva para el ingreso.</a:t>
            </a:r>
          </a:p>
          <a:p>
            <a:pPr marL="285750" indent="-285750">
              <a:spcAft>
                <a:spcPts val="600"/>
              </a:spcAft>
              <a:buFont typeface="Arial" panose="020B0604020202020204" pitchFamily="34" charset="0"/>
              <a:buChar char="•"/>
            </a:pPr>
            <a:r>
              <a:rPr lang="es-ES" dirty="0" err="1"/>
              <a:t>Nª</a:t>
            </a:r>
            <a:r>
              <a:rPr lang="es-ES" dirty="0"/>
              <a:t> </a:t>
            </a:r>
            <a:r>
              <a:rPr lang="es-ES" dirty="0" err="1"/>
              <a:t>Trab</a:t>
            </a:r>
            <a:r>
              <a:rPr lang="es-ES" dirty="0"/>
              <a:t>. fuerte correlación negativa con la Informalidad. Hay una importante correlación positiva con el ingreso.</a:t>
            </a:r>
          </a:p>
          <a:p>
            <a:pPr marL="285750" indent="-285750">
              <a:spcAft>
                <a:spcPts val="600"/>
              </a:spcAft>
              <a:buFont typeface="Arial" panose="020B0604020202020204" pitchFamily="34" charset="0"/>
              <a:buChar char="•"/>
            </a:pPr>
            <a:r>
              <a:rPr lang="es-ES" dirty="0"/>
              <a:t>Las horas trabajadas tienen una leve correlación positiva con el ingreso principal.</a:t>
            </a:r>
          </a:p>
          <a:p>
            <a:pPr marL="285750" indent="-285750">
              <a:spcAft>
                <a:spcPts val="600"/>
              </a:spcAft>
              <a:buFont typeface="Arial" panose="020B0604020202020204" pitchFamily="34" charset="0"/>
              <a:buChar char="•"/>
            </a:pPr>
            <a:r>
              <a:rPr lang="es-ES" dirty="0"/>
              <a:t>El número de personas en el hogar tiene una correlación negativa con los años de educación, por lo que cuantas mas personas vivan en un hogar, mayores son las chances de que tengan pocos años de educación</a:t>
            </a:r>
          </a:p>
          <a:p>
            <a:pPr marL="285750" indent="-285750">
              <a:buFont typeface="Arial" panose="020B0604020202020204" pitchFamily="34" charset="0"/>
              <a:buChar char="•"/>
            </a:pPr>
            <a:endParaRPr lang="es-ES" dirty="0"/>
          </a:p>
        </p:txBody>
      </p:sp>
    </p:spTree>
    <p:extLst>
      <p:ext uri="{BB962C8B-B14F-4D97-AF65-F5344CB8AC3E}">
        <p14:creationId xmlns:p14="http://schemas.microsoft.com/office/powerpoint/2010/main" val="3912469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827E4-9DE7-16EA-C94A-179CD89C9DDE}"/>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437A9EEB-3DDE-DEAE-1844-DC7C682D6633}"/>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FE023F0B-89CE-D62F-763B-CF7BCF1A8348}"/>
              </a:ext>
            </a:extLst>
          </p:cNvPr>
          <p:cNvSpPr txBox="1"/>
          <p:nvPr/>
        </p:nvSpPr>
        <p:spPr>
          <a:xfrm>
            <a:off x="1171074" y="320842"/>
            <a:ext cx="4732421" cy="707886"/>
          </a:xfrm>
          <a:prstGeom prst="rect">
            <a:avLst/>
          </a:prstGeom>
          <a:noFill/>
        </p:spPr>
        <p:txBody>
          <a:bodyPr wrap="square" rtlCol="0">
            <a:spAutoFit/>
          </a:bodyPr>
          <a:lstStyle/>
          <a:p>
            <a:r>
              <a:rPr lang="es-ES" sz="4000" dirty="0"/>
              <a:t>PCA</a:t>
            </a:r>
            <a:endParaRPr lang="es-ES" sz="3600" dirty="0"/>
          </a:p>
        </p:txBody>
      </p:sp>
      <p:sp>
        <p:nvSpPr>
          <p:cNvPr id="7" name="CuadroTexto 6">
            <a:extLst>
              <a:ext uri="{FF2B5EF4-FFF2-40B4-BE49-F238E27FC236}">
                <a16:creationId xmlns:a16="http://schemas.microsoft.com/office/drawing/2014/main" id="{D895A7E9-5B58-C5A8-116A-423709916DC6}"/>
              </a:ext>
            </a:extLst>
          </p:cNvPr>
          <p:cNvSpPr txBox="1"/>
          <p:nvPr/>
        </p:nvSpPr>
        <p:spPr>
          <a:xfrm>
            <a:off x="1668379" y="1168666"/>
            <a:ext cx="9496926" cy="5293757"/>
          </a:xfrm>
          <a:prstGeom prst="rect">
            <a:avLst/>
          </a:prstGeom>
          <a:noFill/>
        </p:spPr>
        <p:txBody>
          <a:bodyPr wrap="square" rtlCol="0">
            <a:spAutoFit/>
          </a:bodyPr>
          <a:lstStyle/>
          <a:p>
            <a:pPr marL="342900" indent="-342900">
              <a:buFont typeface="Arial" panose="020B0604020202020204" pitchFamily="34" charset="0"/>
              <a:buChar char="•"/>
            </a:pPr>
            <a:r>
              <a:rPr lang="es-ES" sz="2000" dirty="0"/>
              <a:t>Transformación de los valores para </a:t>
            </a:r>
            <a:r>
              <a:rPr lang="es-ES" sz="2000" dirty="0" err="1"/>
              <a:t>logral</a:t>
            </a:r>
            <a:r>
              <a:rPr lang="es-ES" sz="2000" dirty="0"/>
              <a:t> media = 0 y </a:t>
            </a:r>
            <a:r>
              <a:rPr lang="es-ES" sz="2000" dirty="0" err="1"/>
              <a:t>std</a:t>
            </a:r>
            <a:r>
              <a:rPr lang="es-ES" sz="2000" dirty="0"/>
              <a:t>. </a:t>
            </a:r>
            <a:r>
              <a:rPr lang="es-ES" sz="2000" dirty="0" err="1"/>
              <a:t>dev</a:t>
            </a:r>
            <a:r>
              <a:rPr lang="es-ES" sz="2000" dirty="0"/>
              <a:t>. = 1</a:t>
            </a:r>
          </a:p>
          <a:p>
            <a:endParaRPr lang="es-ES" sz="2000" dirty="0"/>
          </a:p>
          <a:p>
            <a:pPr marL="342900" indent="-342900">
              <a:buFont typeface="Arial" panose="020B0604020202020204" pitchFamily="34" charset="0"/>
              <a:buChar char="•"/>
            </a:pPr>
            <a:r>
              <a:rPr lang="es-ES" sz="2000" dirty="0"/>
              <a:t>Valores nulos: eliminar valores con filas nulas o Iterative </a:t>
            </a:r>
            <a:r>
              <a:rPr lang="es-ES" sz="2000" dirty="0" err="1"/>
              <a:t>Imputer</a:t>
            </a:r>
            <a:r>
              <a:rPr lang="es-ES" sz="2000" dirty="0"/>
              <a:t> (Gemini)</a:t>
            </a:r>
          </a:p>
          <a:p>
            <a:endParaRPr lang="es-ES" sz="2000" dirty="0"/>
          </a:p>
          <a:p>
            <a:pPr marL="342900" indent="-342900">
              <a:buFont typeface="Arial" panose="020B0604020202020204" pitchFamily="34" charset="0"/>
              <a:buChar char="•"/>
            </a:pPr>
            <a:r>
              <a:rPr lang="es-ES" sz="2000" dirty="0" err="1"/>
              <a:t>Interative</a:t>
            </a:r>
            <a:r>
              <a:rPr lang="es-ES" sz="2000" dirty="0"/>
              <a:t> </a:t>
            </a:r>
            <a:r>
              <a:rPr lang="es-ES" sz="2000" dirty="0" err="1"/>
              <a:t>Imputer</a:t>
            </a:r>
            <a:r>
              <a:rPr lang="es-ES" sz="2000" dirty="0"/>
              <a:t>:  que estima el ingreso de la persona basándose en su edad, educación y horas trabajadas.</a:t>
            </a:r>
          </a:p>
          <a:p>
            <a:endParaRPr lang="es-ES" sz="2000" dirty="0"/>
          </a:p>
          <a:p>
            <a:pPr marL="342900" indent="-342900">
              <a:buFont typeface="Arial" panose="020B0604020202020204" pitchFamily="34" charset="0"/>
              <a:buChar char="•"/>
            </a:pPr>
            <a:r>
              <a:rPr lang="es-ES" sz="2000" dirty="0"/>
              <a:t>Al tener resultados similares, se decidió utilizar la opción II por tener una mayor cantidad de filas</a:t>
            </a:r>
          </a:p>
          <a:p>
            <a:endParaRPr lang="es-ES" sz="2000" dirty="0"/>
          </a:p>
          <a:p>
            <a:endParaRPr lang="es-ES" sz="2000" dirty="0"/>
          </a:p>
          <a:p>
            <a:pPr marL="342900" indent="-342900">
              <a:buFont typeface="Arial" panose="020B0604020202020204" pitchFamily="34" charset="0"/>
              <a:buChar char="•"/>
            </a:pPr>
            <a:r>
              <a:rPr lang="es-ES" sz="2000" dirty="0"/>
              <a:t>Varianza explicada (Iterative </a:t>
            </a:r>
            <a:r>
              <a:rPr lang="es-ES" sz="2000" dirty="0" err="1"/>
              <a:t>Imputer</a:t>
            </a:r>
            <a:r>
              <a:rPr lang="es-ES" sz="2000" dirty="0"/>
              <a:t>): [0,30  0,22  0,15  0,13]</a:t>
            </a:r>
          </a:p>
          <a:p>
            <a:pPr marL="342900" indent="-342900">
              <a:buFont typeface="Arial" panose="020B0604020202020204" pitchFamily="34" charset="0"/>
              <a:buChar char="•"/>
            </a:pPr>
            <a:r>
              <a:rPr lang="es-ES" sz="2000" dirty="0"/>
              <a:t>Varianza explicada (Caso </a:t>
            </a:r>
            <a:r>
              <a:rPr lang="es-ES" sz="2000" dirty="0" err="1"/>
              <a:t>Dropna</a:t>
            </a:r>
            <a:r>
              <a:rPr lang="es-ES" sz="2000" dirty="0"/>
              <a:t>): [0,31  0,25  0,15  0,11]</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endParaRPr lang="es-ES" sz="2000" dirty="0"/>
          </a:p>
          <a:p>
            <a:endParaRPr lang="es-ES" dirty="0"/>
          </a:p>
        </p:txBody>
      </p:sp>
    </p:spTree>
    <p:extLst>
      <p:ext uri="{BB962C8B-B14F-4D97-AF65-F5344CB8AC3E}">
        <p14:creationId xmlns:p14="http://schemas.microsoft.com/office/powerpoint/2010/main" val="3274735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1B63-9E8F-898A-E744-A867DFCB8278}"/>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55FAF654-8523-8D8A-5006-91094E566E45}"/>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72AA2225-828F-B7AD-AD18-0DEF398B445C}"/>
              </a:ext>
            </a:extLst>
          </p:cNvPr>
          <p:cNvSpPr txBox="1"/>
          <p:nvPr/>
        </p:nvSpPr>
        <p:spPr>
          <a:xfrm>
            <a:off x="1094874" y="0"/>
            <a:ext cx="4732421" cy="707886"/>
          </a:xfrm>
          <a:prstGeom prst="rect">
            <a:avLst/>
          </a:prstGeom>
          <a:noFill/>
        </p:spPr>
        <p:txBody>
          <a:bodyPr wrap="square" rtlCol="0">
            <a:spAutoFit/>
          </a:bodyPr>
          <a:lstStyle/>
          <a:p>
            <a:r>
              <a:rPr lang="es-ES" sz="4000" dirty="0"/>
              <a:t>Gráfico de Dispersión</a:t>
            </a:r>
            <a:endParaRPr lang="es-ES" sz="3600" dirty="0"/>
          </a:p>
        </p:txBody>
      </p:sp>
      <p:pic>
        <p:nvPicPr>
          <p:cNvPr id="4" name="Imagen 3">
            <a:extLst>
              <a:ext uri="{FF2B5EF4-FFF2-40B4-BE49-F238E27FC236}">
                <a16:creationId xmlns:a16="http://schemas.microsoft.com/office/drawing/2014/main" id="{76747FA7-04C3-2A52-A21D-7AC3977B11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874" y="891568"/>
            <a:ext cx="8491086" cy="5660420"/>
          </a:xfrm>
          <a:prstGeom prst="rect">
            <a:avLst/>
          </a:prstGeom>
        </p:spPr>
      </p:pic>
    </p:spTree>
    <p:extLst>
      <p:ext uri="{BB962C8B-B14F-4D97-AF65-F5344CB8AC3E}">
        <p14:creationId xmlns:p14="http://schemas.microsoft.com/office/powerpoint/2010/main" val="244290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83911-0383-A689-D302-885670EC4AE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1A0A37C-9D0B-793D-79A1-C22C5F86E98D}"/>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3" name="Imagen 2">
            <a:extLst>
              <a:ext uri="{FF2B5EF4-FFF2-40B4-BE49-F238E27FC236}">
                <a16:creationId xmlns:a16="http://schemas.microsoft.com/office/drawing/2014/main" id="{B6474CE9-30F0-D8F6-21F0-99F1AE051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
            <a:ext cx="7043151" cy="5193230"/>
          </a:xfrm>
          <a:prstGeom prst="rect">
            <a:avLst/>
          </a:prstGeom>
        </p:spPr>
      </p:pic>
      <p:sp>
        <p:nvSpPr>
          <p:cNvPr id="4" name="CuadroTexto 3">
            <a:extLst>
              <a:ext uri="{FF2B5EF4-FFF2-40B4-BE49-F238E27FC236}">
                <a16:creationId xmlns:a16="http://schemas.microsoft.com/office/drawing/2014/main" id="{844BBFA9-4846-8C27-3E9D-1405951F293B}"/>
              </a:ext>
            </a:extLst>
          </p:cNvPr>
          <p:cNvSpPr txBox="1"/>
          <p:nvPr/>
        </p:nvSpPr>
        <p:spPr>
          <a:xfrm>
            <a:off x="914400" y="5193229"/>
            <a:ext cx="9890760" cy="1200329"/>
          </a:xfrm>
          <a:prstGeom prst="rect">
            <a:avLst/>
          </a:prstGeom>
          <a:noFill/>
        </p:spPr>
        <p:txBody>
          <a:bodyPr wrap="square" rtlCol="0">
            <a:spAutoFit/>
          </a:bodyPr>
          <a:lstStyle/>
          <a:p>
            <a:pPr marL="285750" indent="-285750">
              <a:buFont typeface="Arial" panose="020B0604020202020204" pitchFamily="34" charset="0"/>
              <a:buChar char="•"/>
            </a:pPr>
            <a:r>
              <a:rPr lang="es-ES" dirty="0"/>
              <a:t>Los trabajadores formales están repartidos en los cuatro cuadrantes mientras que los trabajadores informales se encuentran en su mayoría en los valores negativos del PC2 y están distribuidos en el PC1.</a:t>
            </a:r>
          </a:p>
          <a:p>
            <a:endParaRPr lang="es-ES" dirty="0"/>
          </a:p>
        </p:txBody>
      </p:sp>
    </p:spTree>
    <p:extLst>
      <p:ext uri="{BB962C8B-B14F-4D97-AF65-F5344CB8AC3E}">
        <p14:creationId xmlns:p14="http://schemas.microsoft.com/office/powerpoint/2010/main" val="3050107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563E6-6073-884A-6F91-F443E3D8B3DE}"/>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AEEA07D0-EA47-DF4C-2EDE-A8B511911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6096000" cy="4305497"/>
          </a:xfrm>
          <a:prstGeom prst="rect">
            <a:avLst/>
          </a:prstGeom>
        </p:spPr>
      </p:pic>
      <p:pic>
        <p:nvPicPr>
          <p:cNvPr id="10" name="Imagen 9">
            <a:extLst>
              <a:ext uri="{FF2B5EF4-FFF2-40B4-BE49-F238E27FC236}">
                <a16:creationId xmlns:a16="http://schemas.microsoft.com/office/drawing/2014/main" id="{18B4E9A7-9CD0-AD6F-1AD4-C73830C50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
            <a:ext cx="6096000" cy="4305496"/>
          </a:xfrm>
          <a:prstGeom prst="rect">
            <a:avLst/>
          </a:prstGeom>
        </p:spPr>
      </p:pic>
      <p:sp>
        <p:nvSpPr>
          <p:cNvPr id="11" name="CuadroTexto 10">
            <a:extLst>
              <a:ext uri="{FF2B5EF4-FFF2-40B4-BE49-F238E27FC236}">
                <a16:creationId xmlns:a16="http://schemas.microsoft.com/office/drawing/2014/main" id="{2B668658-CE50-769D-DA4C-69B31C459CE3}"/>
              </a:ext>
            </a:extLst>
          </p:cNvPr>
          <p:cNvSpPr txBox="1"/>
          <p:nvPr/>
        </p:nvSpPr>
        <p:spPr>
          <a:xfrm>
            <a:off x="0" y="4400745"/>
            <a:ext cx="11229975" cy="1477328"/>
          </a:xfrm>
          <a:prstGeom prst="rect">
            <a:avLst/>
          </a:prstGeom>
          <a:noFill/>
        </p:spPr>
        <p:txBody>
          <a:bodyPr wrap="square" rtlCol="0">
            <a:spAutoFit/>
          </a:bodyPr>
          <a:lstStyle/>
          <a:p>
            <a:pPr marL="285750" indent="-285750">
              <a:buFont typeface="Arial" panose="020B0604020202020204" pitchFamily="34" charset="0"/>
              <a:buChar char="•"/>
            </a:pPr>
            <a:r>
              <a:rPr lang="es-ES" dirty="0"/>
              <a:t>Con los datos obtenidos en la matriz de correlación, tiene sentido que los Informales ocupen los valores negativos.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Variables como Educación, Ing. </a:t>
            </a:r>
            <a:r>
              <a:rPr lang="es-ES" dirty="0" err="1"/>
              <a:t>Princ</a:t>
            </a:r>
            <a:r>
              <a:rPr lang="es-ES" dirty="0"/>
              <a:t>. y </a:t>
            </a:r>
            <a:r>
              <a:rPr lang="es-ES" dirty="0" err="1"/>
              <a:t>Nª</a:t>
            </a:r>
            <a:r>
              <a:rPr lang="es-ES" dirty="0"/>
              <a:t> trabajadores “expulsan” a los informales al sector inferior del gráfico.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err="1"/>
              <a:t>Nª</a:t>
            </a:r>
            <a:r>
              <a:rPr lang="es-ES" dirty="0"/>
              <a:t> Hogar “atrae” a los trabajadores </a:t>
            </a:r>
            <a:r>
              <a:rPr lang="es-ES" dirty="0" err="1"/>
              <a:t>infrormales</a:t>
            </a:r>
            <a:endParaRPr lang="es-ES" dirty="0"/>
          </a:p>
        </p:txBody>
      </p:sp>
    </p:spTree>
    <p:extLst>
      <p:ext uri="{BB962C8B-B14F-4D97-AF65-F5344CB8AC3E}">
        <p14:creationId xmlns:p14="http://schemas.microsoft.com/office/powerpoint/2010/main" val="3914872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60E7F-69BB-E1A8-84D8-8639F5487E8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3E73CA0-70E0-EEA8-1396-EFE0B94F46F2}"/>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01E136EA-06B6-54F9-5E33-54127330EA79}"/>
              </a:ext>
            </a:extLst>
          </p:cNvPr>
          <p:cNvSpPr txBox="1"/>
          <p:nvPr/>
        </p:nvSpPr>
        <p:spPr>
          <a:xfrm>
            <a:off x="1171074" y="320842"/>
            <a:ext cx="4732421" cy="707886"/>
          </a:xfrm>
          <a:prstGeom prst="rect">
            <a:avLst/>
          </a:prstGeom>
          <a:noFill/>
        </p:spPr>
        <p:txBody>
          <a:bodyPr wrap="square" rtlCol="0">
            <a:spAutoFit/>
          </a:bodyPr>
          <a:lstStyle/>
          <a:p>
            <a:r>
              <a:rPr lang="es-ES" sz="4000" dirty="0" err="1"/>
              <a:t>Cluster</a:t>
            </a:r>
            <a:endParaRPr lang="es-ES" sz="3600" dirty="0"/>
          </a:p>
        </p:txBody>
      </p:sp>
      <p:sp>
        <p:nvSpPr>
          <p:cNvPr id="7" name="CuadroTexto 6">
            <a:extLst>
              <a:ext uri="{FF2B5EF4-FFF2-40B4-BE49-F238E27FC236}">
                <a16:creationId xmlns:a16="http://schemas.microsoft.com/office/drawing/2014/main" id="{AA16C901-EF01-7280-E4FC-3E3146F7C62B}"/>
              </a:ext>
            </a:extLst>
          </p:cNvPr>
          <p:cNvSpPr txBox="1"/>
          <p:nvPr/>
        </p:nvSpPr>
        <p:spPr>
          <a:xfrm>
            <a:off x="1668379" y="1168666"/>
            <a:ext cx="9496926" cy="1908215"/>
          </a:xfrm>
          <a:prstGeom prst="rect">
            <a:avLst/>
          </a:prstGeom>
          <a:noFill/>
        </p:spPr>
        <p:txBody>
          <a:bodyPr wrap="square" rtlCol="0">
            <a:spAutoFit/>
          </a:bodyPr>
          <a:lstStyle/>
          <a:p>
            <a:pPr marL="342900" indent="-342900">
              <a:buFont typeface="Arial" panose="020B0604020202020204" pitchFamily="34" charset="0"/>
              <a:buChar char="•"/>
            </a:pPr>
            <a:r>
              <a:rPr lang="es-ES" sz="2000" dirty="0"/>
              <a:t>Prueba con dos </a:t>
            </a:r>
            <a:r>
              <a:rPr lang="es-ES" sz="2000" dirty="0" err="1"/>
              <a:t>clusters</a:t>
            </a:r>
            <a:r>
              <a:rPr lang="es-ES" sz="2000" dirty="0"/>
              <a:t>:</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endParaRPr lang="es-ES" sz="2000" dirty="0"/>
          </a:p>
          <a:p>
            <a:endParaRPr lang="es-ES" dirty="0"/>
          </a:p>
        </p:txBody>
      </p:sp>
      <p:pic>
        <p:nvPicPr>
          <p:cNvPr id="2" name="Imagen 1">
            <a:extLst>
              <a:ext uri="{FF2B5EF4-FFF2-40B4-BE49-F238E27FC236}">
                <a16:creationId xmlns:a16="http://schemas.microsoft.com/office/drawing/2014/main" id="{171F6F5A-08A1-9E96-63F1-1DC28FD3E9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1074" y="1596432"/>
            <a:ext cx="7193993" cy="4092902"/>
          </a:xfrm>
          <a:prstGeom prst="rect">
            <a:avLst/>
          </a:prstGeom>
        </p:spPr>
      </p:pic>
      <p:sp>
        <p:nvSpPr>
          <p:cNvPr id="3" name="CuadroTexto 2">
            <a:extLst>
              <a:ext uri="{FF2B5EF4-FFF2-40B4-BE49-F238E27FC236}">
                <a16:creationId xmlns:a16="http://schemas.microsoft.com/office/drawing/2014/main" id="{09240B00-6335-E572-319F-A04E5B2D5613}"/>
              </a:ext>
            </a:extLst>
          </p:cNvPr>
          <p:cNvSpPr txBox="1"/>
          <p:nvPr/>
        </p:nvSpPr>
        <p:spPr>
          <a:xfrm>
            <a:off x="914400" y="5787894"/>
            <a:ext cx="10809259" cy="369332"/>
          </a:xfrm>
          <a:prstGeom prst="rect">
            <a:avLst/>
          </a:prstGeom>
          <a:noFill/>
        </p:spPr>
        <p:txBody>
          <a:bodyPr wrap="square" rtlCol="0">
            <a:spAutoFit/>
          </a:bodyPr>
          <a:lstStyle/>
          <a:p>
            <a:pPr marL="285750" indent="-285750">
              <a:buFont typeface="Arial" panose="020B0604020202020204" pitchFamily="34" charset="0"/>
              <a:buChar char="•"/>
            </a:pPr>
            <a:r>
              <a:rPr lang="es-ES" dirty="0"/>
              <a:t>Dos </a:t>
            </a:r>
            <a:r>
              <a:rPr lang="es-ES" dirty="0" err="1"/>
              <a:t>clusters</a:t>
            </a:r>
            <a:r>
              <a:rPr lang="es-ES" dirty="0"/>
              <a:t> no son suficientes, ya que están mezclados entre sí</a:t>
            </a:r>
          </a:p>
        </p:txBody>
      </p:sp>
    </p:spTree>
    <p:extLst>
      <p:ext uri="{BB962C8B-B14F-4D97-AF65-F5344CB8AC3E}">
        <p14:creationId xmlns:p14="http://schemas.microsoft.com/office/powerpoint/2010/main" val="3922791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4FF61-D6B9-D81F-72B8-9DEA520F9083}"/>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8CCFF840-7282-A0E7-184A-73E8F9079D3A}"/>
              </a:ext>
            </a:extLst>
          </p:cNvPr>
          <p:cNvSpPr/>
          <p:nvPr/>
        </p:nvSpPr>
        <p:spPr>
          <a:xfrm>
            <a:off x="-84667" y="-1"/>
            <a:ext cx="999067" cy="6925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82341CB8-2DB9-6E6A-0763-312999F9FB67}"/>
              </a:ext>
            </a:extLst>
          </p:cNvPr>
          <p:cNvSpPr txBox="1"/>
          <p:nvPr/>
        </p:nvSpPr>
        <p:spPr>
          <a:xfrm>
            <a:off x="1278466" y="313691"/>
            <a:ext cx="9931400" cy="923330"/>
          </a:xfrm>
          <a:prstGeom prst="rect">
            <a:avLst/>
          </a:prstGeom>
          <a:noFill/>
        </p:spPr>
        <p:txBody>
          <a:bodyPr wrap="square" rtlCol="0">
            <a:spAutoFit/>
          </a:bodyPr>
          <a:lstStyle/>
          <a:p>
            <a:pPr marL="285750" indent="-285750">
              <a:buFont typeface="Arial" panose="020B0604020202020204" pitchFamily="34" charset="0"/>
              <a:buChar char="•"/>
            </a:pPr>
            <a:r>
              <a:rPr lang="es-ES" dirty="0"/>
              <a:t>Doble chequeo: método </a:t>
            </a:r>
            <a:r>
              <a:rPr lang="es-ES" dirty="0" err="1"/>
              <a:t>elbow</a:t>
            </a:r>
            <a:r>
              <a:rPr lang="es-ES" dirty="0"/>
              <a:t> y </a:t>
            </a:r>
            <a:r>
              <a:rPr lang="es-ES" dirty="0" err="1"/>
              <a:t>dendograma</a:t>
            </a:r>
            <a:r>
              <a:rPr lang="es-ES" dirty="0"/>
              <a:t>. Método Ward que minimiza la varianza interna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p:txBody>
      </p:sp>
      <p:pic>
        <p:nvPicPr>
          <p:cNvPr id="4" name="Imagen 3">
            <a:extLst>
              <a:ext uri="{FF2B5EF4-FFF2-40B4-BE49-F238E27FC236}">
                <a16:creationId xmlns:a16="http://schemas.microsoft.com/office/drawing/2014/main" id="{402CD73E-D9ED-8AE1-FC1B-1B6B714A5EDE}"/>
              </a:ext>
            </a:extLst>
          </p:cNvPr>
          <p:cNvPicPr>
            <a:picLocks noChangeAspect="1"/>
          </p:cNvPicPr>
          <p:nvPr/>
        </p:nvPicPr>
        <p:blipFill>
          <a:blip r:embed="rId2">
            <a:extLst>
              <a:ext uri="{28A0092B-C50C-407E-A947-70E740481C1C}">
                <a14:useLocalDpi xmlns:a14="http://schemas.microsoft.com/office/drawing/2010/main" val="0"/>
              </a:ext>
            </a:extLst>
          </a:blip>
          <a:srcRect l="973" r="1"/>
          <a:stretch>
            <a:fillRect/>
          </a:stretch>
        </p:blipFill>
        <p:spPr>
          <a:xfrm>
            <a:off x="914400" y="1096664"/>
            <a:ext cx="6333067" cy="2997839"/>
          </a:xfrm>
          <a:prstGeom prst="rect">
            <a:avLst/>
          </a:prstGeom>
        </p:spPr>
      </p:pic>
      <p:pic>
        <p:nvPicPr>
          <p:cNvPr id="7" name="Imagen 6">
            <a:extLst>
              <a:ext uri="{FF2B5EF4-FFF2-40B4-BE49-F238E27FC236}">
                <a16:creationId xmlns:a16="http://schemas.microsoft.com/office/drawing/2014/main" id="{2500C388-DCBC-ECC3-2BC6-09068808ED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4114800"/>
            <a:ext cx="6604000" cy="2681201"/>
          </a:xfrm>
          <a:prstGeom prst="rect">
            <a:avLst/>
          </a:prstGeom>
        </p:spPr>
      </p:pic>
      <p:sp>
        <p:nvSpPr>
          <p:cNvPr id="8" name="CuadroTexto 7">
            <a:extLst>
              <a:ext uri="{FF2B5EF4-FFF2-40B4-BE49-F238E27FC236}">
                <a16:creationId xmlns:a16="http://schemas.microsoft.com/office/drawing/2014/main" id="{8633F425-44EF-CEC8-10E7-F06012DE67AE}"/>
              </a:ext>
            </a:extLst>
          </p:cNvPr>
          <p:cNvSpPr txBox="1"/>
          <p:nvPr/>
        </p:nvSpPr>
        <p:spPr>
          <a:xfrm>
            <a:off x="8246534" y="1096664"/>
            <a:ext cx="2667000" cy="4524315"/>
          </a:xfrm>
          <a:prstGeom prst="rect">
            <a:avLst/>
          </a:prstGeom>
          <a:noFill/>
        </p:spPr>
        <p:txBody>
          <a:bodyPr wrap="square" rtlCol="0">
            <a:spAutoFit/>
          </a:bodyPr>
          <a:lstStyle/>
          <a:p>
            <a:pPr marL="285750" indent="-285750">
              <a:buFont typeface="Arial" panose="020B0604020202020204" pitchFamily="34" charset="0"/>
              <a:buChar char="•"/>
            </a:pPr>
            <a:r>
              <a:rPr lang="es-ES" dirty="0" err="1"/>
              <a:t>Elbow</a:t>
            </a:r>
            <a:r>
              <a:rPr lang="es-ES" dirty="0"/>
              <a:t> sugiere que lo óptimo es tener siete </a:t>
            </a:r>
            <a:r>
              <a:rPr lang="es-ES" dirty="0" err="1"/>
              <a:t>clusters</a:t>
            </a: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endParaRPr lang="es-ES" dirty="0"/>
          </a:p>
          <a:p>
            <a:pPr marL="285750" indent="-285750">
              <a:buFont typeface="Arial" panose="020B0604020202020204" pitchFamily="34" charset="0"/>
              <a:buChar char="•"/>
            </a:pPr>
            <a:r>
              <a:rPr lang="es-ES" dirty="0"/>
              <a:t>Al ver el </a:t>
            </a:r>
            <a:r>
              <a:rPr lang="es-ES" dirty="0" err="1"/>
              <a:t>dendograma</a:t>
            </a:r>
            <a:r>
              <a:rPr lang="es-ES" dirty="0"/>
              <a:t> de las últimas 50 fusiones, se pueden diferenciar tres </a:t>
            </a:r>
            <a:r>
              <a:rPr lang="es-ES" dirty="0" err="1"/>
              <a:t>clusters</a:t>
            </a:r>
            <a:r>
              <a:rPr lang="es-ES" dirty="0"/>
              <a:t> distintos</a:t>
            </a:r>
          </a:p>
        </p:txBody>
      </p:sp>
    </p:spTree>
    <p:extLst>
      <p:ext uri="{BB962C8B-B14F-4D97-AF65-F5344CB8AC3E}">
        <p14:creationId xmlns:p14="http://schemas.microsoft.com/office/powerpoint/2010/main" val="3551171337"/>
      </p:ext>
    </p:extLst>
  </p:cSld>
  <p:clrMapOvr>
    <a:masterClrMapping/>
  </p:clrMapOvr>
</p:sld>
</file>

<file path=ppt/theme/theme1.xml><?xml version="1.0" encoding="utf-8"?>
<a:theme xmlns:a="http://schemas.openxmlformats.org/drawingml/2006/main" name="Paquete">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Paquet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quete">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0BDC4BB7-8AF9-46FD-8C32-AB93AC9C4100}"/>
    </a:ext>
  </a:extLst>
</a:theme>
</file>

<file path=docProps/app.xml><?xml version="1.0" encoding="utf-8"?>
<Properties xmlns="http://schemas.openxmlformats.org/officeDocument/2006/extended-properties" xmlns:vt="http://schemas.openxmlformats.org/officeDocument/2006/docPropsVTypes">
  <Template/>
  <TotalTime>109</TotalTime>
  <Words>639</Words>
  <Application>Microsoft Office PowerPoint</Application>
  <PresentationFormat>Panorámica</PresentationFormat>
  <Paragraphs>73</Paragraphs>
  <Slides>13</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Gill Sans MT</vt:lpstr>
      <vt:lpstr>Paquete</vt:lpstr>
      <vt:lpstr>TP3: Métodos no Supervisados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Cerrar Cuenta</dc:creator>
  <cp:lastModifiedBy>Cerrar Cuenta</cp:lastModifiedBy>
  <cp:revision>11</cp:revision>
  <dcterms:created xsi:type="dcterms:W3CDTF">2026-04-24T06:07:02Z</dcterms:created>
  <dcterms:modified xsi:type="dcterms:W3CDTF">2026-04-24T15:41:07Z</dcterms:modified>
</cp:coreProperties>
</file>